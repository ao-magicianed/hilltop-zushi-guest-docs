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5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056000" cy="10188000"/>
          </a:xfrm>
          <a:prstGeom prst="rect">
            <a:avLst/>
          </a:prstGeom>
          <a:noFill/>
          <a:ln w="9525">
            <a:solidFill>
              <a:srgbClr val="C9A5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2000" y="252000"/>
            <a:ext cx="7056000" cy="1008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396000"/>
            <a:ext cx="648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メイリオ"/>
              </a:rPr>
              <a:t>HILLTOP ZUSHI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756000"/>
            <a:ext cx="648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C9A56D"/>
                </a:solidFill>
                <a:latin typeface="メイリオ"/>
              </a:rPr>
              <a:t>House Rules · ハウスルール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440000"/>
            <a:ext cx="6480000" cy="5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400" b="1" i="0">
                <a:solidFill>
                  <a:srgbClr val="1F3A34"/>
                </a:solidFill>
                <a:latin typeface="メイリオ"/>
              </a:rPr>
              <a:t>HOUSE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016000"/>
            <a:ext cx="6480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A8854B"/>
                </a:solidFill>
                <a:latin typeface="メイリオ"/>
              </a:rPr>
              <a:t>ハウスルール · 必ずお守りください / Please read carefully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2448000"/>
            <a:ext cx="6696000" cy="58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5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40000" y="2556000"/>
            <a:ext cx="360000" cy="360000"/>
          </a:xfrm>
          <a:prstGeom prst="ellipse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000" y="2502000"/>
            <a:ext cx="604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Max 12 guests strictly enforced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2754000"/>
            <a:ext cx="60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メイリオ"/>
              </a:rPr>
              <a:t>定員12名厳守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067200"/>
            <a:ext cx="6696000" cy="58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5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0000" y="3175200"/>
            <a:ext cx="360000" cy="360000"/>
          </a:xfrm>
          <a:prstGeom prst="ellipse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000" y="3121200"/>
            <a:ext cx="604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No shoes inside (remove at entrance)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8000" y="3373200"/>
            <a:ext cx="60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メイリオ"/>
              </a:rPr>
              <a:t>土足厳禁（玄関で必ず靴を脱ぐ）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686400"/>
            <a:ext cx="6696000" cy="58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5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40000" y="3794400"/>
            <a:ext cx="360000" cy="360000"/>
          </a:xfrm>
          <a:prstGeom prst="ellipse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000" y="3740400"/>
            <a:ext cx="604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No smoking indoors / Outdoor (garden &amp; terrace) 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000" y="3992400"/>
            <a:ext cx="60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メイリオ"/>
              </a:rPr>
              <a:t>室内全面禁煙 / 屋外（庭・テラス）は喫煙可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" y="4305600"/>
            <a:ext cx="6696000" cy="58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67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40000" y="4413600"/>
            <a:ext cx="360000" cy="360000"/>
          </a:xfrm>
          <a:prstGeom prst="ellipse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000" y="4359600"/>
            <a:ext cx="604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Quiet hours: until 20:00 (no loud voices or music anytime)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000" y="4611600"/>
            <a:ext cx="60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メイリオ"/>
              </a:rPr>
              <a:t>騒音は20時まで / 大声・音楽は時間問わず配慮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4924800"/>
            <a:ext cx="6696000" cy="58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5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40000" y="5032800"/>
            <a:ext cx="360000" cy="360000"/>
          </a:xfrm>
          <a:prstGeom prst="ellipse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000" y="4978800"/>
            <a:ext cx="604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Pets: Private Garden OK / King bedroom NOT allowed / +¥4,400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000" y="5230800"/>
            <a:ext cx="60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メイリオ"/>
              </a:rPr>
              <a:t>ペット可: プライベートガーデンOK / キング寝室NG / +¥4,400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2000" y="5544000"/>
            <a:ext cx="6696000" cy="58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67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0000" y="5652000"/>
            <a:ext cx="360000" cy="360000"/>
          </a:xfrm>
          <a:prstGeom prst="ellipse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8000" y="5598000"/>
            <a:ext cx="604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BBQ fees: Booking ¥4,400 / Same-day ¥6,600 / Unauthorized ¥16,000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8000" y="5850000"/>
            <a:ext cx="60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メイリオ"/>
              </a:rPr>
              <a:t>BBQ料金: 予約時¥4,400 / 当日¥6,600 / 未申告¥16,000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000" y="6163200"/>
            <a:ext cx="6696000" cy="58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0000" y="6271200"/>
            <a:ext cx="360000" cy="360000"/>
          </a:xfrm>
          <a:prstGeom prst="ellipse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8000" y="6217200"/>
            <a:ext cx="604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Lost key: replacement fee ¥30,000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8000" y="6469200"/>
            <a:ext cx="60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メイリオ"/>
              </a:rPr>
              <a:t>鍵紛失時: 複製代¥30,000を申し受けます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2000" y="6782399"/>
            <a:ext cx="6696000" cy="58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A5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40000" y="6890399"/>
            <a:ext cx="360000" cy="360000"/>
          </a:xfrm>
          <a:prstGeom prst="ellipse">
            <a:avLst/>
          </a:prstGeom>
          <a:solidFill>
            <a:srgbClr val="C9A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8000" y="6836399"/>
            <a:ext cx="604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Keep windows closed (insect prevention)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8000" y="7088399"/>
            <a:ext cx="60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メイリオ"/>
              </a:rPr>
              <a:t>窓は基本「閉」（虫が入るため）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2000" y="7401600"/>
            <a:ext cx="6696000" cy="58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40000" y="7509600"/>
            <a:ext cx="360000" cy="360000"/>
          </a:xfrm>
          <a:prstGeom prst="ellipse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8000" y="7455600"/>
            <a:ext cx="604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NEVER open 2F balcony windows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8000" y="7707600"/>
            <a:ext cx="60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メイリオ"/>
              </a:rPr>
              <a:t>2階ベランダの窓は絶対に開けないでください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2000" y="8020799"/>
            <a:ext cx="6696000" cy="58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67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40000" y="8128799"/>
            <a:ext cx="360000" cy="360000"/>
          </a:xfrm>
          <a:prstGeom prst="ellipse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8000" y="8074799"/>
            <a:ext cx="604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Do not soil linens / bedding (actual cleaning fee may be charged)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8000" y="8326799"/>
            <a:ext cx="60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メイリオ"/>
              </a:rPr>
              <a:t>リネン・寝具を汚さない（実費請求あり・化粧/飲食NG）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2000" y="8640000"/>
            <a:ext cx="6696000" cy="58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D67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0000" y="8748000"/>
            <a:ext cx="360000" cy="360000"/>
          </a:xfrm>
          <a:prstGeom prst="ellipse">
            <a:avLst/>
          </a:prstGeom>
          <a:solidFill>
            <a:srgbClr val="D67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8000" y="8694000"/>
            <a:ext cx="604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Fireworks: handheld only, water bucket required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8000" y="8946000"/>
            <a:ext cx="60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メイリオ"/>
              </a:rPr>
              <a:t>花火: 手持ちのみ・水バケツ必須（火事リスク大）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2000" y="9259200"/>
            <a:ext cx="6696000" cy="58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82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40000" y="9367200"/>
            <a:ext cx="360000" cy="360000"/>
          </a:xfrm>
          <a:prstGeom prst="ellipse">
            <a:avLst/>
          </a:prstGeom>
          <a:solidFill>
            <a:srgbClr val="C8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メイリオ"/>
              </a:rPr>
              <a:t>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8000" y="9313200"/>
            <a:ext cx="6048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F3A34"/>
                </a:solidFill>
                <a:latin typeface="メイリオ"/>
              </a:rPr>
              <a:t>Cliff beyond Panorama Terrace: KEEP OUT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8000" y="9565200"/>
            <a:ext cx="6048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B6B"/>
                </a:solidFill>
                <a:latin typeface="メイリオ"/>
              </a:rPr>
              <a:t>パノラマテラスの先は崖・立入禁止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2000" y="9972000"/>
            <a:ext cx="7056000" cy="468000"/>
          </a:xfrm>
          <a:prstGeom prst="rect">
            <a:avLst/>
          </a:prstGeom>
          <a:solidFill>
            <a:srgbClr val="1F3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0000" y="10026000"/>
            <a:ext cx="64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メイリオ"/>
              </a:rPr>
              <a:t>📍 2-10-9 Ikego, Zushi-shi, Kanagawa · 神奈川県逗子市池子2-10-9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000" y="10188000"/>
            <a:ext cx="648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C9A56D"/>
                </a:solidFill>
                <a:latin typeface="メイリオ"/>
              </a:rPr>
              <a:t>Check-in 16:00 / Check-out 10:00 · Contact: Airbnb / Booking message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0000" y="10332000"/>
            <a:ext cx="648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>
                <a:solidFill>
                  <a:srgbClr val="C9A56D"/>
                </a:solidFill>
                <a:latin typeface="メイリオ"/>
              </a:rPr>
              <a:t>© 2026 Hilltop Zushi · House Guide v3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